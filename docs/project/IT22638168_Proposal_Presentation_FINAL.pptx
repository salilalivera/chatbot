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Pregnancy Support System — IT22638168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AI Chatbot with Mood Detection</a:t>
            </a:r>
          </a:p>
          <a:p>
            <a:pPr>
              <a:spcAft>
                <a:spcPts val="1000"/>
              </a:spcAft>
              <a:defRPr sz="2000"/>
            </a:pPr>
            <a:r>
              <a:t>Revised proposal — August 2026</a:t>
            </a:r>
          </a:p>
          <a:p>
            <a:pPr>
              <a:spcAft>
                <a:spcPts val="1000"/>
              </a:spcAft>
              <a:defRPr sz="2000"/>
            </a:pPr>
            <a:r>
              <a:t>Face + bilingual text → mood fusion → adaptive 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Antenatal depression and anxiety are meaningful concerns in Sri Lanka.</a:t>
            </a:r>
          </a:p>
          <a:p>
            <a:pPr>
              <a:spcAft>
                <a:spcPts val="1000"/>
              </a:spcAft>
              <a:defRPr sz="2000"/>
            </a:pPr>
            <a:r>
              <a:t>Digital support can complement routine clinical care.</a:t>
            </a:r>
          </a:p>
          <a:p>
            <a:pPr>
              <a:spcAft>
                <a:spcPts val="1000"/>
              </a:spcAft>
              <a:defRPr sz="2000"/>
            </a:pPr>
            <a:r>
              <a:t>The system is not a diagnostic replacement for doctors.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Literature Review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49 research records extracted.</a:t>
            </a:r>
          </a:p>
          <a:p>
            <a:pPr>
              <a:spcAft>
                <a:spcPts val="1000"/>
              </a:spcAft>
              <a:defRPr sz="2000"/>
            </a:pPr>
            <a:r>
              <a:t>Pregnancy chatbots already exist.</a:t>
            </a:r>
          </a:p>
          <a:p>
            <a:pPr>
              <a:spcAft>
                <a:spcPts val="1000"/>
              </a:spcAft>
              <a:defRPr sz="2000"/>
            </a:pPr>
            <a:r>
              <a:t>FER needs real-world validation.</a:t>
            </a:r>
          </a:p>
          <a:p>
            <a:pPr>
              <a:spcAft>
                <a:spcPts val="1000"/>
              </a:spcAft>
              <a:defRPr sz="2000"/>
            </a:pPr>
            <a:r>
              <a:t>Sinhala NLP is low-resource but advancing.</a:t>
            </a:r>
          </a:p>
          <a:p>
            <a:pPr>
              <a:spcAft>
                <a:spcPts val="1000"/>
              </a:spcAft>
              <a:defRPr sz="2000"/>
            </a:pPr>
            <a:r>
              <a:t>Multimodal face+text emotion recognition is established generally.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Localized Sinhala/English pregnancy support with mood-aware adaptation remains insufficiently represented in the reviewed evidence.</a:t>
            </a:r>
          </a:p>
          <a:p>
            <a:pPr>
              <a:spcAft>
                <a:spcPts val="1000"/>
              </a:spcAft>
              <a:defRPr sz="2000"/>
            </a:pPr>
            <a:r>
              <a:t>The contribution is localized application, transparent fusion, privacy design and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Updated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Bilingual chatbot</a:t>
            </a:r>
          </a:p>
          <a:p>
            <a:pPr>
              <a:spcAft>
                <a:spcPts val="1000"/>
              </a:spcAft>
              <a:defRPr sz="2000"/>
            </a:pPr>
            <a:r>
              <a:t>2. On-device FER + bilingual text sentiment</a:t>
            </a:r>
          </a:p>
          <a:p>
            <a:pPr>
              <a:spcAft>
                <a:spcPts val="1000"/>
              </a:spcAft>
              <a:defRPr sz="2000"/>
            </a:pPr>
            <a:r>
              <a:t>3. Transparent mood fusion + adaptive response</a:t>
            </a:r>
          </a:p>
          <a:p>
            <a:pPr>
              <a:spcAft>
                <a:spcPts val="1000"/>
              </a:spcAft>
              <a:defRPr sz="2000"/>
            </a:pPr>
            <a:r>
              <a:t>4. Local data management/offline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Behaviour Was Removed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Behavioural signals are promising but highly user-dependent.</a:t>
            </a:r>
          </a:p>
          <a:p>
            <a:pPr>
              <a:spcAft>
                <a:spcPts val="1000"/>
              </a:spcAft>
              <a:defRPr sz="2000"/>
            </a:pPr>
            <a:r>
              <a:t>Evidence does not justify a generic fixed safety-sensitive weight.</a:t>
            </a:r>
          </a:p>
          <a:p>
            <a:pPr>
              <a:spcAft>
                <a:spcPts val="1000"/>
              </a:spcAft>
              <a:defRPr sz="2000"/>
            </a:pPr>
            <a:r>
              <a:t>Behaviour may remain telemetry/ablation only.</a:t>
            </a:r>
          </a:p>
          <a:p>
            <a:pPr>
              <a:spcAft>
                <a:spcPts val="1000"/>
              </a:spcAft>
              <a:defRPr sz="2000"/>
            </a:pPr>
            <a:r>
              <a:t>It cannot drive the core mood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Facial Emotion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MobileNetV2-family lightweight model</a:t>
            </a:r>
          </a:p>
          <a:p>
            <a:pPr>
              <a:spcAft>
                <a:spcPts val="1000"/>
              </a:spcAft>
              <a:defRPr sz="2000"/>
            </a:pPr>
            <a:r>
              <a:t>FER-2013 + AffectNet-derived data</a:t>
            </a:r>
          </a:p>
          <a:p>
            <a:pPr>
              <a:spcAft>
                <a:spcPts val="1000"/>
              </a:spcAft>
              <a:defRPr sz="2000"/>
            </a:pPr>
            <a:r>
              <a:t>TensorFlow Lite on-device inference</a:t>
            </a:r>
          </a:p>
          <a:p>
            <a:pPr>
              <a:spcAft>
                <a:spcPts val="1000"/>
              </a:spcAft>
              <a:defRPr sz="2000"/>
            </a:pPr>
            <a:r>
              <a:t>Confidence filtering + temporal smoothing</a:t>
            </a:r>
          </a:p>
          <a:p>
            <a:pPr>
              <a:spcAft>
                <a:spcPts val="1000"/>
              </a:spcAft>
              <a:defRPr sz="2000"/>
            </a:pPr>
            <a:r>
              <a:t>Raw frames discarded immediately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Bilingual Text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English: lightweight transformer sentiment</a:t>
            </a:r>
          </a:p>
          <a:p>
            <a:pPr>
              <a:spcAft>
                <a:spcPts val="1000"/>
              </a:spcAft>
              <a:defRPr sz="2000"/>
            </a:pPr>
            <a:r>
              <a:t>Sinhala: low-resource approach + pregnancy-domain validation</a:t>
            </a:r>
          </a:p>
          <a:p>
            <a:pPr>
              <a:spcAft>
                <a:spcPts val="1000"/>
              </a:spcAft>
              <a:defRPr sz="2000"/>
            </a:pPr>
            <a:r>
              <a:t>Models are evaluated rather than assumed to transfer perfectly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Fusion + Adaptive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Normalize facial and text scores</a:t>
            </a:r>
          </a:p>
          <a:p>
            <a:pPr>
              <a:spcAft>
                <a:spcPts val="1000"/>
              </a:spcAft>
              <a:defRPr sz="2000"/>
            </a:pPr>
            <a:r>
              <a:t>Tune transparent fusion using validation/self-report evidence</a:t>
            </a:r>
          </a:p>
          <a:p>
            <a:pPr>
              <a:spcAft>
                <a:spcPts val="1000"/>
              </a:spcAft>
              <a:defRPr sz="2000"/>
            </a:pPr>
            <a:r>
              <a:t>Normal → standard supportive tone</a:t>
            </a:r>
          </a:p>
          <a:p>
            <a:pPr>
              <a:spcAft>
                <a:spcPts val="1000"/>
              </a:spcAft>
              <a:defRPr sz="2000"/>
            </a:pPr>
            <a:r>
              <a:t>Distress → gentler response + supportive content + human-support guidance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FER: accuracy, macro-F1, pose/condition subsets</a:t>
            </a:r>
          </a:p>
          <a:p>
            <a:pPr>
              <a:spcAft>
                <a:spcPts val="1000"/>
              </a:spcAft>
              <a:defRPr sz="2000"/>
            </a:pPr>
            <a:r>
              <a:t>Text: English/Sinhala domain evaluation</a:t>
            </a:r>
          </a:p>
          <a:p>
            <a:pPr>
              <a:spcAft>
                <a:spcPts val="1000"/>
              </a:spcAft>
              <a:defRPr sz="2000"/>
            </a:pPr>
            <a:r>
              <a:t>Fusion: single-modality comparison + self-report</a:t>
            </a:r>
          </a:p>
          <a:p>
            <a:pPr>
              <a:spcAft>
                <a:spcPts val="1000"/>
              </a:spcAft>
              <a:defRPr sz="2000"/>
            </a:pPr>
            <a:r>
              <a:t>Response: appropriateness/supportiveness/satisfaction</a:t>
            </a:r>
          </a:p>
          <a:p>
            <a:pPr>
              <a:spcAft>
                <a:spcPts val="1000"/>
              </a:spcAft>
              <a:defRPr sz="2000"/>
            </a:pPr>
            <a:r>
              <a:t>System: latency, privacy, offline reliability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Safety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Explicit bilingual camera consent</a:t>
            </a:r>
          </a:p>
          <a:p>
            <a:pPr>
              <a:spcAft>
                <a:spcPts val="1000"/>
              </a:spcAft>
              <a:defRPr sz="2000"/>
            </a:pPr>
            <a:r>
              <a:t>Visible camera state + one-tap disable</a:t>
            </a:r>
          </a:p>
          <a:p>
            <a:pPr>
              <a:spcAft>
                <a:spcPts val="1000"/>
              </a:spcAft>
              <a:defRPr sz="2000"/>
            </a:pPr>
            <a:r>
              <a:t>No raw facial image storage/transmission</a:t>
            </a:r>
          </a:p>
          <a:p>
            <a:pPr>
              <a:spcAft>
                <a:spcPts val="1000"/>
              </a:spcAft>
              <a:defRPr sz="2000"/>
            </a:pPr>
            <a:r>
              <a:t>Text-only fallback</a:t>
            </a:r>
          </a:p>
          <a:p>
            <a:pPr>
              <a:spcAft>
                <a:spcPts val="1000"/>
              </a:spcAft>
              <a:defRPr sz="2000"/>
            </a:pPr>
            <a:r>
              <a:t>No diagnosis claims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Localized, bilingual, pregnancy-specific, multimodal mood-aware conversational support</a:t>
            </a:r>
          </a:p>
          <a:p>
            <a:pPr>
              <a:spcAft>
                <a:spcPts val="1000"/>
              </a:spcAft>
              <a:defRPr sz="2000"/>
            </a:pPr>
            <a:r>
              <a:t>Transparent fusion</a:t>
            </a:r>
          </a:p>
          <a:p>
            <a:pPr>
              <a:spcAft>
                <a:spcPts val="1000"/>
              </a:spcAft>
              <a:defRPr sz="2000"/>
            </a:pPr>
            <a:r>
              <a:t>Privacy-aware on-device FER</a:t>
            </a:r>
          </a:p>
          <a:p>
            <a:pPr>
              <a:spcAft>
                <a:spcPts val="1000"/>
              </a:spcAft>
              <a:defRPr sz="2000"/>
            </a:pPr>
            <a:r>
              <a:t>Adaptive response evaluated with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